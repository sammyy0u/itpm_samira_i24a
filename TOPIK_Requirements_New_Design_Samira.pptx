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84280" y="137160"/>
            <a:ext cx="384048" cy="384048"/>
          </a:xfrm>
          <a:prstGeom prst="ellipse">
            <a:avLst/>
          </a:prstGeom>
          <a:solidFill>
            <a:srgbClr val="FF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" y="6263640"/>
            <a:ext cx="320040" cy="320040"/>
          </a:xfrm>
          <a:prstGeom prst="ellipse">
            <a:avLst/>
          </a:prstGeom>
          <a:solidFill>
            <a:srgbClr val="E0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52760" y="6419088"/>
            <a:ext cx="1005840" cy="256032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4F637D"/>
                </a:solidFill>
                <a:latin typeface="Aptos"/>
              </a:defRPr>
            </a:pPr>
            <a:r>
              <a:t>1/9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6400800" cy="54864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376EC6"/>
                </a:solidFill>
                <a:latin typeface="Aptos"/>
              </a:defRPr>
            </a:pPr>
            <a:r>
              <a:t>REQUIREMENTS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400800" cy="114300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6200" b="1">
                <a:solidFill>
                  <a:srgbClr val="183058"/>
                </a:solidFill>
                <a:latin typeface="Aptos"/>
              </a:defRPr>
            </a:pPr>
            <a:r>
              <a:t>TOPIK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16352"/>
            <a:ext cx="6400800" cy="68580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83058"/>
                </a:solidFill>
                <a:latin typeface="Aptos"/>
              </a:defRPr>
            </a:pPr>
            <a:r>
              <a:t>한국어능력시험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57600"/>
            <a:ext cx="6400800" cy="50292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4F637D"/>
                </a:solidFill>
                <a:latin typeface="Aptos"/>
              </a:defRPr>
            </a:pPr>
            <a:r>
              <a:t>Korean Language Proficiency Test 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773168"/>
            <a:ext cx="429768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910328"/>
            <a:ext cx="3840480" cy="3657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83058"/>
                </a:solidFill>
                <a:latin typeface="Aptos"/>
              </a:defRPr>
            </a:pPr>
            <a:r>
              <a:t>Abduvoxidova Samira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987552"/>
            <a:ext cx="2715768" cy="4839004"/>
          </a:xfrm>
          <a:prstGeom prst="roundRect">
            <a:avLst/>
          </a:prstGeom>
          <a:solidFill>
            <a:srgbClr val="18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38230" y="1125809"/>
            <a:ext cx="2498506" cy="454273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39392" y="1165311"/>
            <a:ext cx="1086307" cy="148132"/>
          </a:xfrm>
          <a:prstGeom prst="roundRect">
            <a:avLst/>
          </a:prstGeom>
          <a:solidFill>
            <a:srgbClr val="18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07359" y="1352946"/>
            <a:ext cx="2350373" cy="750539"/>
          </a:xfrm>
          <a:prstGeom prst="roundRect">
            <a:avLst/>
          </a:prstGeom>
          <a:solidFill>
            <a:srgbClr val="376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73998" y="1540581"/>
            <a:ext cx="1826971" cy="39502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algn="ctr">
              <a:spcAft>
                <a:spcPts val="800"/>
              </a:spcAft>
              <a:defRPr sz="2376" b="1">
                <a:solidFill>
                  <a:srgbClr val="FFFFFF"/>
                </a:solidFill>
                <a:latin typeface="Aptos"/>
              </a:defRPr>
            </a:pPr>
            <a:r>
              <a:t>TOPIK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96239" y="2340498"/>
            <a:ext cx="2172614" cy="602406"/>
          </a:xfrm>
          <a:prstGeom prst="roundRect">
            <a:avLst/>
          </a:prstGeom>
          <a:solidFill>
            <a:srgbClr val="E0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54247" y="2459004"/>
            <a:ext cx="1876348" cy="365394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404" b="1">
                <a:solidFill>
                  <a:srgbClr val="183058"/>
                </a:solidFill>
                <a:latin typeface="Aptos"/>
              </a:defRPr>
            </a:pPr>
            <a:r>
              <a:t>한국어 공부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6239" y="3110788"/>
            <a:ext cx="2172614" cy="602406"/>
          </a:xfrm>
          <a:prstGeom prst="roundRect">
            <a:avLst/>
          </a:prstGeom>
          <a:solidFill>
            <a:srgbClr val="FF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4247" y="3229295"/>
            <a:ext cx="1876348" cy="365394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404" b="1">
                <a:solidFill>
                  <a:srgbClr val="183058"/>
                </a:solidFill>
                <a:latin typeface="Aptos"/>
              </a:defRPr>
            </a:pPr>
            <a:r>
              <a:t>TOPIK Practice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96239" y="3881079"/>
            <a:ext cx="2172614" cy="602406"/>
          </a:xfrm>
          <a:prstGeom prst="roundRect">
            <a:avLst/>
          </a:prstGeom>
          <a:solidFill>
            <a:srgbClr val="DEF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54247" y="3999585"/>
            <a:ext cx="1876348" cy="365394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404" b="1">
                <a:solidFill>
                  <a:srgbClr val="183058"/>
                </a:solidFill>
                <a:latin typeface="Aptos"/>
              </a:defRPr>
            </a:pPr>
            <a:r>
              <a:t>Vocabulary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96239" y="4651369"/>
            <a:ext cx="2172614" cy="602406"/>
          </a:xfrm>
          <a:prstGeom prst="roundRect">
            <a:avLst/>
          </a:prstGeom>
          <a:solidFill>
            <a:srgbClr val="EC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54247" y="4769876"/>
            <a:ext cx="1876348" cy="365394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404" b="1">
                <a:solidFill>
                  <a:srgbClr val="183058"/>
                </a:solidFill>
                <a:latin typeface="Aptos"/>
              </a:defRPr>
            </a:pPr>
            <a:r>
              <a:t>Grammar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84280" y="137160"/>
            <a:ext cx="384048" cy="384048"/>
          </a:xfrm>
          <a:prstGeom prst="ellipse">
            <a:avLst/>
          </a:prstGeom>
          <a:solidFill>
            <a:srgbClr val="FF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" y="6263640"/>
            <a:ext cx="320040" cy="320040"/>
          </a:xfrm>
          <a:prstGeom prst="ellipse">
            <a:avLst/>
          </a:prstGeom>
          <a:solidFill>
            <a:srgbClr val="E0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183058"/>
                </a:solidFill>
                <a:latin typeface="Aptos"/>
              </a:defRPr>
            </a:pPr>
            <a:r>
              <a:t>What is TOPIK?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024128"/>
            <a:ext cx="10789920" cy="393192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An app designed to support Korean language exam preparation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19088"/>
            <a:ext cx="1005840" cy="256032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4F637D"/>
                </a:solidFill>
                <a:latin typeface="Aptos"/>
              </a:defRPr>
            </a:pPr>
            <a:r>
              <a:t>2/9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760720" cy="3566160"/>
          </a:xfrm>
          <a:prstGeom prst="roundRect">
            <a:avLst/>
          </a:prstGeom>
          <a:solidFill>
            <a:srgbClr val="E0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5303520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83058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5212080" cy="2542032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Practice for TOPIK I and TOPIK II</a:t>
            </a:r>
          </a:p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Study vocabulary and grammar</a:t>
            </a:r>
          </a:p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Prepare for exam-style questions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417320"/>
            <a:ext cx="2388870" cy="4256532"/>
          </a:xfrm>
          <a:prstGeom prst="roundRect">
            <a:avLst/>
          </a:prstGeom>
          <a:solidFill>
            <a:srgbClr val="18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50834" y="1538935"/>
            <a:ext cx="2197760" cy="399592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67597" y="1573682"/>
            <a:ext cx="955547" cy="130301"/>
          </a:xfrm>
          <a:prstGeom prst="roundRect">
            <a:avLst/>
          </a:prstGeom>
          <a:solidFill>
            <a:srgbClr val="18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11642" y="1738731"/>
            <a:ext cx="2067458" cy="660196"/>
          </a:xfrm>
          <a:prstGeom prst="roundRect">
            <a:avLst/>
          </a:prstGeom>
          <a:solidFill>
            <a:srgbClr val="376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6186" y="1903780"/>
            <a:ext cx="1607058" cy="347472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algn="ctr">
              <a:spcAft>
                <a:spcPts val="800"/>
              </a:spcAft>
              <a:defRPr sz="2090" b="1">
                <a:solidFill>
                  <a:srgbClr val="FFFFFF"/>
                </a:solidFill>
                <a:latin typeface="Aptos"/>
              </a:defRPr>
            </a:pPr>
            <a:r>
              <a:t>TOPIK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9823" y="2607411"/>
            <a:ext cx="1911095" cy="529894"/>
          </a:xfrm>
          <a:prstGeom prst="roundRect">
            <a:avLst/>
          </a:prstGeom>
          <a:solidFill>
            <a:srgbClr val="E0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8812" y="2711653"/>
            <a:ext cx="1650492" cy="321411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235" b="1">
                <a:solidFill>
                  <a:srgbClr val="183058"/>
                </a:solidFill>
                <a:latin typeface="Aptos"/>
              </a:defRPr>
            </a:pPr>
            <a:r>
              <a:t>한국어 공부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9823" y="3284982"/>
            <a:ext cx="1911095" cy="529894"/>
          </a:xfrm>
          <a:prstGeom prst="roundRect">
            <a:avLst/>
          </a:prstGeom>
          <a:solidFill>
            <a:srgbClr val="FF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8812" y="3389223"/>
            <a:ext cx="1650492" cy="321411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235" b="1">
                <a:solidFill>
                  <a:srgbClr val="183058"/>
                </a:solidFill>
                <a:latin typeface="Aptos"/>
              </a:defRPr>
            </a:pPr>
            <a:r>
              <a:t>TOPIK Practice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9823" y="3962552"/>
            <a:ext cx="1911095" cy="529894"/>
          </a:xfrm>
          <a:prstGeom prst="roundRect">
            <a:avLst/>
          </a:prstGeom>
          <a:solidFill>
            <a:srgbClr val="DEF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8812" y="4066794"/>
            <a:ext cx="1650492" cy="321411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235" b="1">
                <a:solidFill>
                  <a:srgbClr val="183058"/>
                </a:solidFill>
                <a:latin typeface="Aptos"/>
              </a:defRPr>
            </a:pPr>
            <a:r>
              <a:t>Vocabulary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9823" y="4640122"/>
            <a:ext cx="1911095" cy="529894"/>
          </a:xfrm>
          <a:prstGeom prst="roundRect">
            <a:avLst/>
          </a:prstGeom>
          <a:solidFill>
            <a:srgbClr val="EC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8812" y="4744364"/>
            <a:ext cx="1650492" cy="321411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235" b="1">
                <a:solidFill>
                  <a:srgbClr val="183058"/>
                </a:solidFill>
                <a:latin typeface="Aptos"/>
              </a:defRPr>
            </a:pPr>
            <a:r>
              <a:t>Grammar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84280" y="137160"/>
            <a:ext cx="384048" cy="384048"/>
          </a:xfrm>
          <a:prstGeom prst="ellipse">
            <a:avLst/>
          </a:prstGeom>
          <a:solidFill>
            <a:srgbClr val="FF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" y="6263640"/>
            <a:ext cx="320040" cy="320040"/>
          </a:xfrm>
          <a:prstGeom prst="ellipse">
            <a:avLst/>
          </a:prstGeom>
          <a:solidFill>
            <a:srgbClr val="E0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183058"/>
                </a:solidFill>
                <a:latin typeface="Aptos"/>
              </a:defRPr>
            </a:pPr>
            <a:r>
              <a:t>Functional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024128"/>
            <a:ext cx="10789920" cy="393192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What should the application 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19088"/>
            <a:ext cx="1005840" cy="256032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4F637D"/>
                </a:solidFill>
                <a:latin typeface="Aptos"/>
              </a:defRPr>
            </a:pPr>
            <a:r>
              <a:t>3/9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3566160" cy="1901952"/>
          </a:xfrm>
          <a:prstGeom prst="roundRect">
            <a:avLst/>
          </a:prstGeom>
          <a:solidFill>
            <a:srgbClr val="E0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108959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83058"/>
                </a:solidFill>
                <a:latin typeface="Aptos"/>
              </a:defRPr>
            </a:pPr>
            <a:r>
              <a:t>Account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3017520" cy="877824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Registration and login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600200"/>
            <a:ext cx="3566160" cy="1901952"/>
          </a:xfrm>
          <a:prstGeom prst="roundRect">
            <a:avLst/>
          </a:prstGeom>
          <a:solidFill>
            <a:srgbClr val="FF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828800"/>
            <a:ext cx="3108960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83058"/>
                </a:solidFill>
                <a:latin typeface="Aptos"/>
              </a:defRPr>
            </a:pPr>
            <a:r>
              <a:t>Learning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514600"/>
            <a:ext cx="3017520" cy="877824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Vocabulary, grammar and lessons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600200"/>
            <a:ext cx="3566160" cy="1901952"/>
          </a:xfrm>
          <a:prstGeom prst="roundRect">
            <a:avLst/>
          </a:prstGeom>
          <a:solidFill>
            <a:srgbClr val="DEF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1828800"/>
            <a:ext cx="3108959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83058"/>
                </a:solidFill>
                <a:latin typeface="Aptos"/>
              </a:defRPr>
            </a:pPr>
            <a:r>
              <a:t>TOPIK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514600"/>
            <a:ext cx="3017520" cy="877824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Exam-style practice questions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94760"/>
            <a:ext cx="3566160" cy="1901952"/>
          </a:xfrm>
          <a:prstGeom prst="roundRect">
            <a:avLst/>
          </a:prstGeom>
          <a:solidFill>
            <a:srgbClr val="EC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23360"/>
            <a:ext cx="3108959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83058"/>
                </a:solidFill>
                <a:latin typeface="Aptos"/>
              </a:defRPr>
            </a:pPr>
            <a:r>
              <a:t>Language 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09160"/>
            <a:ext cx="3017520" cy="877824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Listening and reading exercises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794760"/>
            <a:ext cx="3566160" cy="1901952"/>
          </a:xfrm>
          <a:prstGeom prst="roundRect">
            <a:avLst/>
          </a:prstGeom>
          <a:solidFill>
            <a:srgbClr val="FFF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4023360"/>
            <a:ext cx="3108960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83058"/>
                </a:solidFill>
                <a:latin typeface="Aptos"/>
              </a:defRPr>
            </a:pPr>
            <a:r>
              <a:t>Progress tracking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709160"/>
            <a:ext cx="3017520" cy="877824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Scores, results and feedback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3794760"/>
            <a:ext cx="3566160" cy="1901952"/>
          </a:xfrm>
          <a:prstGeom prst="roundRect">
            <a:avLst/>
          </a:prstGeom>
          <a:solidFill>
            <a:srgbClr val="E0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0" y="4023360"/>
            <a:ext cx="3108959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83058"/>
                </a:solidFill>
                <a:latin typeface="Aptos"/>
              </a:defRPr>
            </a:pPr>
            <a:r>
              <a:t>Navigation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709160"/>
            <a:ext cx="3017520" cy="877824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Find materials easily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84280" y="137160"/>
            <a:ext cx="384048" cy="384048"/>
          </a:xfrm>
          <a:prstGeom prst="ellipse">
            <a:avLst/>
          </a:prstGeom>
          <a:solidFill>
            <a:srgbClr val="FF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" y="6263640"/>
            <a:ext cx="320040" cy="320040"/>
          </a:xfrm>
          <a:prstGeom prst="ellipse">
            <a:avLst/>
          </a:prstGeom>
          <a:solidFill>
            <a:srgbClr val="E0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183058"/>
                </a:solidFill>
                <a:latin typeface="Aptos"/>
              </a:defRPr>
            </a:pPr>
            <a:r>
              <a:t>Non-Functional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024128"/>
            <a:ext cx="10789920" cy="393192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How should the application perform?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19088"/>
            <a:ext cx="1005840" cy="256032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4F637D"/>
                </a:solidFill>
                <a:latin typeface="Aptos"/>
              </a:defRPr>
            </a:pPr>
            <a:r>
              <a:t>4/9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3566160" cy="19019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108959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83058"/>
                </a:solidFill>
                <a:latin typeface="Aptos"/>
              </a:defRPr>
            </a:pPr>
            <a:r>
              <a:t>Usability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3017520" cy="877824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Simple and intuitive 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600200"/>
            <a:ext cx="3566160" cy="1901952"/>
          </a:xfrm>
          <a:prstGeom prst="roundRect">
            <a:avLst/>
          </a:prstGeom>
          <a:solidFill>
            <a:srgbClr val="E0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828800"/>
            <a:ext cx="3108960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83058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514600"/>
            <a:ext cx="3017520" cy="877824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Fast response and audio loading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600200"/>
            <a:ext cx="3566160" cy="1901952"/>
          </a:xfrm>
          <a:prstGeom prst="roundRect">
            <a:avLst/>
          </a:prstGeom>
          <a:solidFill>
            <a:srgbClr val="FF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1828800"/>
            <a:ext cx="3108959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83058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514600"/>
            <a:ext cx="3017520" cy="877824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Protect personal and study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94760"/>
            <a:ext cx="3566160" cy="1901952"/>
          </a:xfrm>
          <a:prstGeom prst="roundRect">
            <a:avLst/>
          </a:prstGeom>
          <a:solidFill>
            <a:srgbClr val="DEF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23360"/>
            <a:ext cx="3108959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83058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09160"/>
            <a:ext cx="3017520" cy="877824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Stable tests and saved progress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794760"/>
            <a:ext cx="3566160" cy="1901952"/>
          </a:xfrm>
          <a:prstGeom prst="roundRect">
            <a:avLst/>
          </a:prstGeom>
          <a:solidFill>
            <a:srgbClr val="FFF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4023360"/>
            <a:ext cx="3108960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83058"/>
                </a:solidFill>
                <a:latin typeface="Aptos"/>
              </a:defRPr>
            </a:pPr>
            <a:r>
              <a:t>Availability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709160"/>
            <a:ext cx="3017520" cy="877824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Accessible on supported devices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3794760"/>
            <a:ext cx="3566160" cy="19019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0" y="4023360"/>
            <a:ext cx="3108959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83058"/>
                </a:solidFill>
                <a:latin typeface="Aptos"/>
              </a:defRPr>
            </a:pPr>
            <a:r>
              <a:t>Accessibility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709160"/>
            <a:ext cx="3017520" cy="877824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Clear text and readable layouts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84280" y="137160"/>
            <a:ext cx="384048" cy="384048"/>
          </a:xfrm>
          <a:prstGeom prst="ellipse">
            <a:avLst/>
          </a:prstGeom>
          <a:solidFill>
            <a:srgbClr val="FF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" y="6263640"/>
            <a:ext cx="320040" cy="320040"/>
          </a:xfrm>
          <a:prstGeom prst="ellipse">
            <a:avLst/>
          </a:prstGeom>
          <a:solidFill>
            <a:srgbClr val="E0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183058"/>
                </a:solidFill>
                <a:latin typeface="Aptos"/>
              </a:defRPr>
            </a:pPr>
            <a:r>
              <a:t>Main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024128"/>
            <a:ext cx="10789920" cy="393192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Who uses the system and what do they need?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19088"/>
            <a:ext cx="1005840" cy="256032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4F637D"/>
                </a:solidFill>
                <a:latin typeface="Aptos"/>
              </a:defRPr>
            </a:pPr>
            <a:r>
              <a:t>5/9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5166360" cy="3931920"/>
          </a:xfrm>
          <a:prstGeom prst="roundRect">
            <a:avLst/>
          </a:prstGeom>
          <a:solidFill>
            <a:srgbClr val="FF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4709160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83058"/>
                </a:solidFill>
                <a:latin typeface="Aptos"/>
              </a:defRPr>
            </a:pPr>
            <a:r>
              <a:t>Target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51760"/>
            <a:ext cx="4617720" cy="2907791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TOPIK exam candidates</a:t>
            </a:r>
          </a:p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University applicants</a:t>
            </a:r>
          </a:p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Job seekers</a:t>
            </a:r>
          </a:p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Independent Korean learners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37360"/>
            <a:ext cx="5166360" cy="3931920"/>
          </a:xfrm>
          <a:prstGeom prst="roundRect">
            <a:avLst/>
          </a:prstGeom>
          <a:solidFill>
            <a:srgbClr val="E0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965960"/>
            <a:ext cx="4709160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83058"/>
                </a:solidFill>
                <a:latin typeface="Aptos"/>
              </a:defRPr>
            </a:pPr>
            <a:r>
              <a:t>Goals &amp; needs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651760"/>
            <a:ext cx="4617720" cy="2907791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Pass TOPIK exams</a:t>
            </a:r>
          </a:p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Improve Korean proficiency</a:t>
            </a:r>
          </a:p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Practice anywhere</a:t>
            </a:r>
          </a:p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Receive useful feedback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84280" y="137160"/>
            <a:ext cx="384048" cy="384048"/>
          </a:xfrm>
          <a:prstGeom prst="ellipse">
            <a:avLst/>
          </a:prstGeom>
          <a:solidFill>
            <a:srgbClr val="FF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" y="6263640"/>
            <a:ext cx="320040" cy="320040"/>
          </a:xfrm>
          <a:prstGeom prst="ellipse">
            <a:avLst/>
          </a:prstGeom>
          <a:solidFill>
            <a:srgbClr val="E0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183058"/>
                </a:solidFill>
                <a:latin typeface="Aptos"/>
              </a:defRPr>
            </a:pPr>
            <a:r>
              <a:t>Problems the App Solves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024128"/>
            <a:ext cx="10789920" cy="393192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Making Korean exam preparation more manageable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19088"/>
            <a:ext cx="1005840" cy="256032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4F637D"/>
                </a:solidFill>
                <a:latin typeface="Aptos"/>
              </a:defRPr>
            </a:pPr>
            <a:r>
              <a:t>6/9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66360" cy="1874519"/>
          </a:xfrm>
          <a:prstGeom prst="roundRect">
            <a:avLst/>
          </a:prstGeom>
          <a:solidFill>
            <a:srgbClr val="E0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4709160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83058"/>
                </a:solidFill>
                <a:latin typeface="Aptos"/>
              </a:defRPr>
            </a:pPr>
            <a:r>
              <a:t>Scattered resources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4617720" cy="850391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Learning materials in one place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645920"/>
            <a:ext cx="5166360" cy="1874519"/>
          </a:xfrm>
          <a:prstGeom prst="roundRect">
            <a:avLst/>
          </a:prstGeom>
          <a:solidFill>
            <a:srgbClr val="DEF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874519"/>
            <a:ext cx="4709160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83058"/>
                </a:solidFill>
                <a:latin typeface="Aptos"/>
              </a:defRPr>
            </a:pPr>
            <a:r>
              <a:t>Limited 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560320"/>
            <a:ext cx="4617720" cy="850391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Convenient exam-style questions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5166360" cy="1874519"/>
          </a:xfrm>
          <a:prstGeom prst="roundRect">
            <a:avLst/>
          </a:prstGeom>
          <a:solidFill>
            <a:srgbClr val="FF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69080"/>
            <a:ext cx="4709160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83058"/>
                </a:solidFill>
                <a:latin typeface="Aptos"/>
              </a:defRPr>
            </a:pPr>
            <a:r>
              <a:t>Unclear weaknesses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4617720" cy="850391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Scores and feedback reveal gaps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3840480"/>
            <a:ext cx="5166360" cy="1874519"/>
          </a:xfrm>
          <a:prstGeom prst="roundRect">
            <a:avLst/>
          </a:prstGeom>
          <a:solidFill>
            <a:srgbClr val="EC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79" y="4069080"/>
            <a:ext cx="4709160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83058"/>
                </a:solidFill>
                <a:latin typeface="Aptos"/>
              </a:defRPr>
            </a:pPr>
            <a:r>
              <a:t>Inflexible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4754880"/>
            <a:ext cx="4617720" cy="850391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Study at your own pace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84280" y="137160"/>
            <a:ext cx="384048" cy="384048"/>
          </a:xfrm>
          <a:prstGeom prst="ellipse">
            <a:avLst/>
          </a:prstGeom>
          <a:solidFill>
            <a:srgbClr val="FF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" y="6263640"/>
            <a:ext cx="320040" cy="320040"/>
          </a:xfrm>
          <a:prstGeom prst="ellipse">
            <a:avLst/>
          </a:prstGeom>
          <a:solidFill>
            <a:srgbClr val="E0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183058"/>
                </a:solidFill>
                <a:latin typeface="Aptos"/>
              </a:defRPr>
            </a:pPr>
            <a:r>
              <a:t>Five Key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024128"/>
            <a:ext cx="10789920" cy="393192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Our team's highest-priority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19088"/>
            <a:ext cx="1005840" cy="256032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4F637D"/>
                </a:solidFill>
                <a:latin typeface="Aptos"/>
              </a:defRPr>
            </a:pPr>
            <a:r>
              <a:t>7/9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74519"/>
            <a:ext cx="2148840" cy="3429000"/>
          </a:xfrm>
          <a:prstGeom prst="roundRect">
            <a:avLst/>
          </a:prstGeom>
          <a:solidFill>
            <a:srgbClr val="FF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6424" y="2167128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313432"/>
            <a:ext cx="502920" cy="347472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376EC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3127248"/>
            <a:ext cx="1828800" cy="749808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183058"/>
                </a:solidFill>
                <a:latin typeface="Aptos"/>
              </a:defRPr>
            </a:pPr>
            <a:r>
              <a:t>TOPIK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096512"/>
            <a:ext cx="1828800" cy="96012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4F637D"/>
                </a:solidFill>
                <a:latin typeface="Aptos"/>
              </a:defRPr>
            </a:pPr>
            <a:r>
              <a:t>Exam-style practice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61488" y="1874519"/>
            <a:ext cx="2148840" cy="3429000"/>
          </a:xfrm>
          <a:prstGeom prst="roundRect">
            <a:avLst/>
          </a:prstGeom>
          <a:solidFill>
            <a:srgbClr val="DEF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56432" y="2167128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2313432"/>
            <a:ext cx="502920" cy="347472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376EC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127248"/>
            <a:ext cx="1828800" cy="749808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183058"/>
                </a:solidFill>
                <a:latin typeface="Aptos"/>
              </a:defRPr>
            </a:pPr>
            <a:r>
              <a:t>Study materials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6936" y="4096512"/>
            <a:ext cx="1828800" cy="96012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4F637D"/>
                </a:solidFill>
                <a:latin typeface="Aptos"/>
              </a:defRPr>
            </a:pPr>
            <a:r>
              <a:t>Grammar &amp; vocabulary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11496" y="1874519"/>
            <a:ext cx="2148840" cy="3429000"/>
          </a:xfrm>
          <a:prstGeom prst="roundRect">
            <a:avLst/>
          </a:prstGeom>
          <a:solidFill>
            <a:srgbClr val="FFF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06440" y="2167128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34456" y="2313432"/>
            <a:ext cx="502920" cy="347472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376EC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3127248"/>
            <a:ext cx="1828800" cy="749808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183058"/>
                </a:solidFill>
                <a:latin typeface="Aptos"/>
              </a:defRPr>
            </a:pPr>
            <a:r>
              <a:t>Skills practice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4" y="4096512"/>
            <a:ext cx="1828800" cy="96012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4F637D"/>
                </a:solidFill>
                <a:latin typeface="Aptos"/>
              </a:defRPr>
            </a:pPr>
            <a:r>
              <a:t>Listening &amp; reading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61503" y="1874519"/>
            <a:ext cx="2148840" cy="3429000"/>
          </a:xfrm>
          <a:prstGeom prst="roundRect">
            <a:avLst/>
          </a:prstGeom>
          <a:solidFill>
            <a:srgbClr val="EC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56447" y="2167128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4463" y="2313432"/>
            <a:ext cx="502920" cy="347472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376EC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5" y="3127248"/>
            <a:ext cx="1828800" cy="749808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183058"/>
                </a:solidFill>
                <a:latin typeface="Aptos"/>
              </a:defRPr>
            </a:pPr>
            <a:r>
              <a:t>Progress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6951" y="4096512"/>
            <a:ext cx="1828800" cy="96012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4F637D"/>
                </a:solidFill>
                <a:latin typeface="Aptos"/>
              </a:defRPr>
            </a:pPr>
            <a:r>
              <a:t>Scores &amp; feedback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11511" y="1874519"/>
            <a:ext cx="214884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06455" y="2167128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34472" y="2313432"/>
            <a:ext cx="502920" cy="347472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376EC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76103" y="3127248"/>
            <a:ext cx="1828800" cy="749808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183058"/>
                </a:solidFill>
                <a:latin typeface="Aptos"/>
              </a:defRPr>
            </a:pPr>
            <a:r>
              <a:t>Easy interface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59" y="4096512"/>
            <a:ext cx="1828800" cy="96012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4F637D"/>
                </a:solidFill>
                <a:latin typeface="Aptos"/>
              </a:defRPr>
            </a:pPr>
            <a:r>
              <a:t>Fast and accessible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84280" y="137160"/>
            <a:ext cx="384048" cy="384048"/>
          </a:xfrm>
          <a:prstGeom prst="ellipse">
            <a:avLst/>
          </a:prstGeom>
          <a:solidFill>
            <a:srgbClr val="FF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" y="6263640"/>
            <a:ext cx="320040" cy="320040"/>
          </a:xfrm>
          <a:prstGeom prst="ellipse">
            <a:avLst/>
          </a:prstGeom>
          <a:solidFill>
            <a:srgbClr val="E0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183058"/>
                </a:solidFill>
                <a:latin typeface="Aptos"/>
              </a:defRPr>
            </a:pPr>
            <a:r>
              <a:t>Proposed Additional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024128"/>
            <a:ext cx="10789920" cy="393192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Suggestions to make TOPIK learning more effective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19088"/>
            <a:ext cx="1005840" cy="256032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4F637D"/>
                </a:solidFill>
                <a:latin typeface="Aptos"/>
              </a:defRPr>
            </a:pPr>
            <a:r>
              <a:t>8/9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66360" cy="1874519"/>
          </a:xfrm>
          <a:prstGeom prst="roundRect">
            <a:avLst/>
          </a:prstGeom>
          <a:solidFill>
            <a:srgbClr val="FF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4709160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83058"/>
                </a:solidFill>
                <a:latin typeface="Aptos"/>
              </a:defRPr>
            </a:pPr>
            <a:r>
              <a:t>Speaking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4617720" cy="850391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Pronunciation with voice 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645920"/>
            <a:ext cx="5166360" cy="1874519"/>
          </a:xfrm>
          <a:prstGeom prst="roundRect">
            <a:avLst/>
          </a:prstGeom>
          <a:solidFill>
            <a:srgbClr val="EC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874519"/>
            <a:ext cx="4709160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83058"/>
                </a:solidFill>
                <a:latin typeface="Aptos"/>
              </a:defRPr>
            </a:pPr>
            <a:r>
              <a:t>Study reminders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560320"/>
            <a:ext cx="4617720" cy="850391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Daily goals and notifications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5166360" cy="1874519"/>
          </a:xfrm>
          <a:prstGeom prst="roundRect">
            <a:avLst/>
          </a:prstGeom>
          <a:solidFill>
            <a:srgbClr val="E0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69080"/>
            <a:ext cx="4709160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83058"/>
                </a:solidFill>
                <a:latin typeface="Aptos"/>
              </a:defRPr>
            </a:pPr>
            <a:r>
              <a:t>Personalized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4617720" cy="850391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Focus on weak topics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3840480"/>
            <a:ext cx="5166360" cy="1874519"/>
          </a:xfrm>
          <a:prstGeom prst="roundRect">
            <a:avLst/>
          </a:prstGeom>
          <a:solidFill>
            <a:srgbClr val="DEF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79" y="4069080"/>
            <a:ext cx="4709160" cy="594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83058"/>
                </a:solidFill>
                <a:latin typeface="Aptos"/>
              </a:defRPr>
            </a:pPr>
            <a:r>
              <a:t>Study community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4754880"/>
            <a:ext cx="4617720" cy="850391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F637D"/>
                </a:solidFill>
                <a:latin typeface="Aptos"/>
              </a:defRPr>
            </a:pPr>
            <a:r>
              <a:t>Peer learning and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84280" y="137160"/>
            <a:ext cx="384048" cy="384048"/>
          </a:xfrm>
          <a:prstGeom prst="ellipse">
            <a:avLst/>
          </a:prstGeom>
          <a:solidFill>
            <a:srgbClr val="FF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" y="6263640"/>
            <a:ext cx="320040" cy="320040"/>
          </a:xfrm>
          <a:prstGeom prst="ellipse">
            <a:avLst/>
          </a:prstGeom>
          <a:solidFill>
            <a:srgbClr val="E0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52760" y="6419088"/>
            <a:ext cx="1005840" cy="256032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4F637D"/>
                </a:solidFill>
                <a:latin typeface="Aptos"/>
              </a:defRPr>
            </a:pPr>
            <a:r>
              <a:t>9/9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6492240" cy="100584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5400" b="1">
                <a:solidFill>
                  <a:srgbClr val="183058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87168"/>
            <a:ext cx="6035040" cy="68580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376EC6"/>
                </a:solidFill>
                <a:latin typeface="Aptos"/>
              </a:defRPr>
            </a:pPr>
            <a:r>
              <a:t>감사합니다 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730752"/>
            <a:ext cx="5943600" cy="50292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83058"/>
                </a:solidFill>
                <a:latin typeface="Aptos"/>
              </a:defRPr>
            </a:pPr>
            <a:r>
              <a:t>Abduvoxidova Samira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617720"/>
            <a:ext cx="6217920" cy="77724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4F637D"/>
                </a:solidFill>
                <a:latin typeface="Aptos"/>
              </a:defRPr>
            </a:pPr>
            <a:r>
              <a:t>TOPIK Requirements Analysis</a:t>
            </a:r>
          </a:p>
          <a:p>
            <a:pPr>
              <a:spcAft>
                <a:spcPts val="800"/>
              </a:spcAft>
              <a:defRPr sz="2000" b="0">
                <a:solidFill>
                  <a:srgbClr val="4F637D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143000"/>
            <a:ext cx="2514600" cy="4480560"/>
          </a:xfrm>
          <a:prstGeom prst="roundRect">
            <a:avLst/>
          </a:prstGeom>
          <a:solidFill>
            <a:srgbClr val="18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30183" y="1271016"/>
            <a:ext cx="2313432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79408" y="1307592"/>
            <a:ext cx="1005840" cy="137160"/>
          </a:xfrm>
          <a:prstGeom prst="roundRect">
            <a:avLst/>
          </a:prstGeom>
          <a:solidFill>
            <a:srgbClr val="18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94192" y="1481328"/>
            <a:ext cx="2176272" cy="694944"/>
          </a:xfrm>
          <a:prstGeom prst="roundRect">
            <a:avLst/>
          </a:prstGeom>
          <a:solidFill>
            <a:srgbClr val="376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1655064"/>
            <a:ext cx="1691640" cy="3657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TOPIK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76488" y="2395728"/>
            <a:ext cx="2011680" cy="557784"/>
          </a:xfrm>
          <a:prstGeom prst="roundRect">
            <a:avLst/>
          </a:prstGeom>
          <a:solidFill>
            <a:srgbClr val="E0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22792" y="2505456"/>
            <a:ext cx="1737360" cy="338328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83058"/>
                </a:solidFill>
                <a:latin typeface="Aptos"/>
              </a:defRPr>
            </a:pPr>
            <a:r>
              <a:t>한국어 공부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76488" y="3108960"/>
            <a:ext cx="2011680" cy="557784"/>
          </a:xfrm>
          <a:prstGeom prst="roundRect">
            <a:avLst/>
          </a:prstGeom>
          <a:solidFill>
            <a:srgbClr val="FF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22792" y="3218688"/>
            <a:ext cx="1737360" cy="338328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83058"/>
                </a:solidFill>
                <a:latin typeface="Aptos"/>
              </a:defRPr>
            </a:pPr>
            <a:r>
              <a:t>TOPIK Practice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76488" y="3822191"/>
            <a:ext cx="2011680" cy="557784"/>
          </a:xfrm>
          <a:prstGeom prst="roundRect">
            <a:avLst/>
          </a:prstGeom>
          <a:solidFill>
            <a:srgbClr val="DEF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22792" y="3931920"/>
            <a:ext cx="1737360" cy="338328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83058"/>
                </a:solidFill>
                <a:latin typeface="Aptos"/>
              </a:defRPr>
            </a:pPr>
            <a:r>
              <a:t>Vocabulary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76488" y="4535424"/>
            <a:ext cx="2011680" cy="557784"/>
          </a:xfrm>
          <a:prstGeom prst="roundRect">
            <a:avLst/>
          </a:prstGeom>
          <a:solidFill>
            <a:srgbClr val="EC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22792" y="4645152"/>
            <a:ext cx="1737360" cy="338328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83058"/>
                </a:solidFill>
                <a:latin typeface="Aptos"/>
              </a:defRPr>
            </a:pPr>
            <a:r>
              <a:t>Grammar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